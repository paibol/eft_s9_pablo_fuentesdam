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9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72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7CDB"/>
    <a:srgbClr val="D1752E"/>
    <a:srgbClr val="9950BE"/>
    <a:srgbClr val="E35A5A"/>
    <a:srgbClr val="FCB42E"/>
    <a:srgbClr val="00A499"/>
    <a:srgbClr val="43B02A"/>
    <a:srgbClr val="C4D600"/>
    <a:srgbClr val="5D6163"/>
    <a:srgbClr val="995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B0C223-620B-48A4-AB13-3FFBA58CC05B}" v="24" dt="2024-03-27T14:54:51.6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67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5" Type="http://schemas.openxmlformats.org/officeDocument/2006/relationships/slide" Target="slides/slide12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5/10/relationships/revisionInfo" Target="revisionInfo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Niño usando laptop en la mesa&#10;&#10;Descripción generada automáticamente">
            <a:extLst>
              <a:ext uri="{FF2B5EF4-FFF2-40B4-BE49-F238E27FC236}">
                <a16:creationId xmlns:a16="http://schemas.microsoft.com/office/drawing/2014/main" id="{84BCA2DD-66B7-974C-19AD-8DCDD9C17E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890" y="1390649"/>
            <a:ext cx="2618439" cy="4108349"/>
          </a:xfrm>
          <a:prstGeom prst="rect">
            <a:avLst/>
          </a:prstGeom>
        </p:spPr>
      </p:pic>
      <p:pic>
        <p:nvPicPr>
          <p:cNvPr id="16" name="Imagen 15" descr="Un hombre en frente de laptop&#10;&#10;Descripción generada automáticamente con confianza media">
            <a:extLst>
              <a:ext uri="{FF2B5EF4-FFF2-40B4-BE49-F238E27FC236}">
                <a16:creationId xmlns:a16="http://schemas.microsoft.com/office/drawing/2014/main" id="{D9737ACC-A81F-BA15-9D17-10FD4D9A0C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452" y="3029300"/>
            <a:ext cx="4054693" cy="2466974"/>
          </a:xfrm>
          <a:prstGeom prst="rect">
            <a:avLst/>
          </a:prstGeom>
        </p:spPr>
      </p:pic>
      <p:pic>
        <p:nvPicPr>
          <p:cNvPr id="18" name="Imagen 17" descr="Laptop encendida sobre una mesa&#10;&#10;Descripción generada automáticamente">
            <a:extLst>
              <a:ext uri="{FF2B5EF4-FFF2-40B4-BE49-F238E27FC236}">
                <a16:creationId xmlns:a16="http://schemas.microsoft.com/office/drawing/2014/main" id="{6D96390B-A749-248B-CED8-962E221712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452" y="346100"/>
            <a:ext cx="4054693" cy="2473300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22ED30C6-A6F1-7907-63E6-64B729EAA2B6}"/>
              </a:ext>
            </a:extLst>
          </p:cNvPr>
          <p:cNvSpPr/>
          <p:nvPr userDrawn="1"/>
        </p:nvSpPr>
        <p:spPr>
          <a:xfrm>
            <a:off x="481398" y="5839174"/>
            <a:ext cx="23461" cy="692943"/>
          </a:xfrm>
          <a:prstGeom prst="rect">
            <a:avLst/>
          </a:prstGeom>
          <a:solidFill>
            <a:srgbClr val="FCB4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0ADA7BC0-3EDA-3396-BF68-56BE7741CF4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4399" y="339724"/>
            <a:ext cx="1908000" cy="75937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722CBC9-567A-5D8C-FEA1-6FECA07E27F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5" r="34329"/>
          <a:stretch/>
        </p:blipFill>
        <p:spPr bwMode="auto">
          <a:xfrm>
            <a:off x="515670" y="346100"/>
            <a:ext cx="4054693" cy="5150174"/>
          </a:xfrm>
          <a:prstGeom prst="roundRect">
            <a:avLst>
              <a:gd name="adj" fmla="val 841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04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­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5F54671-5F3B-7EDC-0E04-9D3E5301D0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0ADA7BC0-3EDA-3396-BF68-56BE7741CF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4399" y="339724"/>
            <a:ext cx="1908000" cy="75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09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Diapositi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 descr="Patrón de fondo&#10;&#10;Descripción generada automáticamente">
            <a:extLst>
              <a:ext uri="{FF2B5EF4-FFF2-40B4-BE49-F238E27FC236}">
                <a16:creationId xmlns:a16="http://schemas.microsoft.com/office/drawing/2014/main" id="{B9357DCB-3C4A-8E4F-262D-A4D54E1E14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748945BD-AFBE-D42C-EFED-72EF3F84404A}"/>
              </a:ext>
            </a:extLst>
          </p:cNvPr>
          <p:cNvSpPr/>
          <p:nvPr userDrawn="1"/>
        </p:nvSpPr>
        <p:spPr>
          <a:xfrm>
            <a:off x="1917577" y="285751"/>
            <a:ext cx="9779750" cy="393889"/>
          </a:xfrm>
          <a:prstGeom prst="roundRect">
            <a:avLst>
              <a:gd name="adj" fmla="val 50000"/>
            </a:avLst>
          </a:prstGeom>
          <a:solidFill>
            <a:srgbClr val="FCB4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0" name="Imagen 9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DB2C26A0-8941-3038-584A-6033481836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73" y="234950"/>
            <a:ext cx="1239899" cy="4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618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Patrón de fondo&#10;&#10;Descripción generada automáticamente">
            <a:extLst>
              <a:ext uri="{FF2B5EF4-FFF2-40B4-BE49-F238E27FC236}">
                <a16:creationId xmlns:a16="http://schemas.microsoft.com/office/drawing/2014/main" id="{D1356AF5-DBBD-02EB-BB6F-8B9D4518BE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1D2D7D45-BE26-F4B2-1CBD-540249872B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699" y="2600973"/>
            <a:ext cx="5938603" cy="233733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EBECEF2-D158-7DAF-A9C9-1F17C54BD85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885" y="5948715"/>
            <a:ext cx="5308231" cy="61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55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B7E6C-7A62-818F-54B9-681CFBB53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1272BC-87DD-3278-9659-1EC5F8C45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A11845-A14B-E0AF-B2E0-10B9E3FA6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6FEAAA-5264-0158-0F5E-42AE387FF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D57B-4393-4480-AD39-7CA7F948070D}" type="datetimeFigureOut">
              <a:rPr lang="es-CL" smtClean="0"/>
              <a:t>16-04-2024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E44824-260C-9A5D-2D6B-D39494F3C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D608E7-622A-3598-8CEB-F9AC80C8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796A0-E1AA-4D5F-BD62-45E983C4EA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9847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181B1-3EC5-4773-1AEE-B518527C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DC2A21-1210-CC46-9390-930F2D031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B8F3C1-7348-9CF1-942E-30DD169ED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1EF9920-D509-C250-C06A-9AFF21B99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637A133-DFFA-52C7-E79E-3C1520398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99AD507-16A3-F66F-0B73-026DDA2F7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D57B-4393-4480-AD39-7CA7F948070D}" type="datetimeFigureOut">
              <a:rPr lang="es-CL" smtClean="0"/>
              <a:t>16-04-2024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4CCE0CB-AFF9-0610-D898-83569D8AC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9BE82F5-407D-C221-3052-E6B8204DD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796A0-E1AA-4D5F-BD62-45E983C4EA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27227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E0C400-A73F-3B78-3867-0CD0559D8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9D9E859-7654-F78C-24E9-0FACFA17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D57B-4393-4480-AD39-7CA7F948070D}" type="datetimeFigureOut">
              <a:rPr lang="es-CL" smtClean="0"/>
              <a:t>16-04-2024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A097238-6425-65A4-2BBB-EE5581C58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5C10340-68BD-DC04-9403-B84A81E0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796A0-E1AA-4D5F-BD62-45E983C4EA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01121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B6D4A8C-FC90-E473-9268-D857C98F9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D57B-4393-4480-AD39-7CA7F948070D}" type="datetimeFigureOut">
              <a:rPr lang="es-CL" smtClean="0"/>
              <a:t>16-04-2024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234CF31-7BD1-0D71-A6C3-222F3D2EE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55C8A0-FD75-A0E3-506C-A643DE5A2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796A0-E1AA-4D5F-BD62-45E983C4EA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1357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09C33-6B6E-4606-C670-0F2298840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37AF81-EA0D-0EBE-E24A-A5BD7AC52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C33F1C-0C90-A1D8-D6EB-CF4CAD442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E218E7-C8E3-81A5-54CD-65356BBE3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D57B-4393-4480-AD39-7CA7F948070D}" type="datetimeFigureOut">
              <a:rPr lang="es-CL" smtClean="0"/>
              <a:t>16-04-2024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1850E6-518A-C925-6381-6BCC0AB5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7B5711-8F71-2048-7843-70805EA07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796A0-E1AA-4D5F-BD62-45E983C4EA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5299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72A6F-A358-089C-93EC-0D07C2F3E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935ED33-D392-7D7C-C5F4-5EB8A2B38B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C138822-C139-5A72-6830-7693985C8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21306A-02CC-60DA-FC9E-F1EE7ED9D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D57B-4393-4480-AD39-7CA7F948070D}" type="datetimeFigureOut">
              <a:rPr lang="es-CL" smtClean="0"/>
              <a:t>16-04-2024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664465-BD68-7048-FC26-9A30C1A6E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2D43F1-82C1-9AC7-0AEB-9D46294C4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796A0-E1AA-4D5F-BD62-45E983C4EA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1215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635FB-4A12-7BCA-11A7-5E2074BD0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FE31D72-33B0-DC63-F26C-87884B26B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DB15AB-3036-46DE-FFD2-74F8EEA2D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D57B-4393-4480-AD39-7CA7F948070D}" type="datetimeFigureOut">
              <a:rPr lang="es-CL" smtClean="0"/>
              <a:t>16-04-2024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BF129E-9A41-C493-D08C-26FF3D84B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833054-70EE-0003-74C7-D2E977FB9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796A0-E1AA-4D5F-BD62-45E983C4EA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4220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F20230-0F95-A7DB-E254-5EFC6E58C1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4F31FB8-BFA4-F7DC-B7DF-DEBB3C8E0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276120-9691-D8B7-7786-E530EF416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D57B-4393-4480-AD39-7CA7F948070D}" type="datetimeFigureOut">
              <a:rPr lang="es-CL" smtClean="0"/>
              <a:t>16-04-2024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7AACCB-C2ED-4AF0-F97C-3F314493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EFB10D-B72E-99F0-9DC0-8D3F2E67E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796A0-E1AA-4D5F-BD62-45E983C4EA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726141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A51DD4D-1C7D-983E-0350-8FB7E3549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A82450-9CFE-BE07-3C85-F81E146FD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467EF4-41EB-D847-E8C8-2F659586C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2FD57B-4393-4480-AD39-7CA7F948070D}" type="datetimeFigureOut">
              <a:rPr lang="es-CL" smtClean="0"/>
              <a:t>16-04-2024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2CC0CD-A311-178D-91A2-DA58C39A6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1A4B4D-AF25-F5E0-EACB-D73148D399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2796A0-E1AA-4D5F-BD62-45E983C4EA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1113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50719F4F-FBD1-CAB6-7A64-F939EEDF7E57}"/>
              </a:ext>
            </a:extLst>
          </p:cNvPr>
          <p:cNvSpPr/>
          <p:nvPr/>
        </p:nvSpPr>
        <p:spPr>
          <a:xfrm>
            <a:off x="547049" y="706922"/>
            <a:ext cx="4025246" cy="5444156"/>
          </a:xfrm>
          <a:prstGeom prst="roundRect">
            <a:avLst>
              <a:gd name="adj" fmla="val 6363"/>
            </a:avLst>
          </a:prstGeom>
          <a:blipFill>
            <a:blip r:embed="rId2"/>
            <a:stretch>
              <a:fillRect l="-53745" r="-5374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2678AFF1-47B1-E14A-5069-A7660D7DDE21}"/>
              </a:ext>
            </a:extLst>
          </p:cNvPr>
          <p:cNvGrpSpPr/>
          <p:nvPr/>
        </p:nvGrpSpPr>
        <p:grpSpPr>
          <a:xfrm>
            <a:off x="4989953" y="1995600"/>
            <a:ext cx="6197368" cy="2684024"/>
            <a:chOff x="4998918" y="1554527"/>
            <a:chExt cx="6197368" cy="2684024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22ED30C6-A6F1-7907-63E6-64B729EAA2B6}"/>
                </a:ext>
              </a:extLst>
            </p:cNvPr>
            <p:cNvSpPr/>
            <p:nvPr/>
          </p:nvSpPr>
          <p:spPr>
            <a:xfrm>
              <a:off x="4998918" y="1754551"/>
              <a:ext cx="23461" cy="2484000"/>
            </a:xfrm>
            <a:prstGeom prst="rect">
              <a:avLst/>
            </a:prstGeom>
            <a:solidFill>
              <a:srgbClr val="FCB4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80AB7A4C-E6F7-69EB-E684-4CA6FAFA6B7D}"/>
                </a:ext>
              </a:extLst>
            </p:cNvPr>
            <p:cNvSpPr txBox="1"/>
            <p:nvPr/>
          </p:nvSpPr>
          <p:spPr>
            <a:xfrm>
              <a:off x="5100285" y="1554527"/>
              <a:ext cx="600698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800" b="1">
                  <a:solidFill>
                    <a:srgbClr val="153550"/>
                  </a:solidFill>
                  <a:latin typeface="Arial"/>
                </a:rPr>
                <a:t>SeñalSegura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6804747D-3DBB-0C07-F072-98DE6282EE7F}"/>
                </a:ext>
              </a:extLst>
            </p:cNvPr>
            <p:cNvSpPr txBox="1"/>
            <p:nvPr/>
          </p:nvSpPr>
          <p:spPr>
            <a:xfrm>
              <a:off x="5100286" y="2482334"/>
              <a:ext cx="609600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700">
                  <a:solidFill>
                    <a:srgbClr val="153550"/>
                  </a:solidFill>
                  <a:latin typeface="Arial"/>
                </a:rPr>
                <a:t>Evaluación Final Transversal</a:t>
              </a:r>
            </a:p>
            <a:p>
              <a:r>
                <a:rPr sz="1700">
                  <a:solidFill>
                    <a:srgbClr val="153550"/>
                  </a:solidFill>
                  <a:latin typeface="Arial"/>
                </a:rPr>
                <a:t>Pablo Andrés Fuentes Castillo</a:t>
              </a:r>
            </a:p>
            <a:p>
              <a:r>
                <a:rPr sz="1700">
                  <a:solidFill>
                    <a:srgbClr val="153550"/>
                  </a:solidFill>
                  <a:latin typeface="Arial"/>
                </a:rPr>
                <a:t>Desarrollo de Aplicaciones Móviles · Semana 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160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29968" y="192024"/>
            <a:ext cx="90525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153550"/>
                </a:solidFill>
                <a:latin typeface="Arial"/>
              </a:rPr>
              <a:t>Problema y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64808"/>
            <a:ext cx="108813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485865"/>
                </a:solidFill>
                <a:latin typeface="Arial"/>
              </a:rPr>
              <a:t>SeñalSegura · EFT S9                                      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07008"/>
            <a:ext cx="5212080" cy="4416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C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07008"/>
            <a:ext cx="82296" cy="4416552"/>
          </a:xfrm>
          <a:prstGeom prst="rect">
            <a:avLst/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353312"/>
            <a:ext cx="48463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Necesidad cotidiana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37943"/>
            <a:ext cx="4828032" cy="3685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Una persona con discapacidad auditiva puede necesitar comunicar una solicitud de inmediato, incluso cuando su interlocutor no conoce lengua de señas.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07008"/>
            <a:ext cx="5349240" cy="13075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C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207008"/>
            <a:ext cx="82296" cy="1307592"/>
          </a:xfrm>
          <a:prstGeom prst="rect">
            <a:avLst/>
          </a:prstGeom>
          <a:solidFill>
            <a:srgbClr val="16709A"/>
          </a:solidFill>
          <a:ln>
            <a:solidFill>
              <a:srgbClr val="167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353312"/>
            <a:ext cx="4983479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Texto visible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837943"/>
            <a:ext cx="4965192" cy="57607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La solicitud se muestra en grande y con alto contraste.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706624"/>
            <a:ext cx="5349240" cy="13075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C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706624"/>
            <a:ext cx="82296" cy="1307592"/>
          </a:xfrm>
          <a:prstGeom prst="rect">
            <a:avLst/>
          </a:prstGeom>
          <a:solidFill>
            <a:srgbClr val="1C895C"/>
          </a:solidFill>
          <a:ln>
            <a:solidFill>
              <a:srgbClr val="1C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852928"/>
            <a:ext cx="4983479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Voz sintetizada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3337560"/>
            <a:ext cx="4965192" cy="57607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El dispositivo puede reproducir el mismo texto en español.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206240"/>
            <a:ext cx="5349240" cy="13075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C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4206240"/>
            <a:ext cx="82296" cy="1307592"/>
          </a:xfrm>
          <a:prstGeom prst="rect">
            <a:avLst/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4352544"/>
            <a:ext cx="4983479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Seguimiento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837175"/>
            <a:ext cx="4965192" cy="57607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Las interacciones se guardan para consulta del usuario autenticado.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06440"/>
            <a:ext cx="10607040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53550"/>
                </a:solidFill>
                <a:latin typeface="Arial"/>
              </a:rPr>
              <a:t>Objetivo: comunicar de forma clara, accesible y verificable.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29968" y="192024"/>
            <a:ext cx="90525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153550"/>
                </a:solidFill>
                <a:latin typeface="Arial"/>
              </a:rPr>
              <a:t>Recorrido de la persona usuaria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64808"/>
            <a:ext cx="108813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485865"/>
                </a:solidFill>
                <a:latin typeface="Arial"/>
              </a:rPr>
              <a:t>SeñalSegura · EFT S9                                      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98448"/>
            <a:ext cx="3502152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B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6384" y="147218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90472"/>
            <a:ext cx="42062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5355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53895"/>
            <a:ext cx="25603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Iniciar sesión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66543"/>
            <a:ext cx="30906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Firebase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298448"/>
            <a:ext cx="3502152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B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26864" y="147218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490472"/>
            <a:ext cx="42062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53550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453895"/>
            <a:ext cx="25603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Elegir mensaje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066543"/>
            <a:ext cx="30906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Escribir o frase rápida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298448"/>
            <a:ext cx="3502152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B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67344" y="147218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490472"/>
            <a:ext cx="42062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53550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453895"/>
            <a:ext cx="25603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Comunicar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2066543"/>
            <a:ext cx="30906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Mostrar o solicitar voz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47288"/>
            <a:ext cx="3502152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B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" y="362102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3639312"/>
            <a:ext cx="42062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53550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602736"/>
            <a:ext cx="25603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Alertar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4215384"/>
            <a:ext cx="30906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Señal visual y vibración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447288"/>
            <a:ext cx="3502152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B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26864" y="362102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2" y="3639312"/>
            <a:ext cx="42062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53550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602736"/>
            <a:ext cx="25603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Guardar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4215384"/>
            <a:ext cx="30906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Registro bajo su UID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3447288"/>
            <a:ext cx="3502152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B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67344" y="362102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2" y="3639312"/>
            <a:ext cx="42062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53550"/>
                </a:solidFill>
                <a:latin typeface="Arial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602736"/>
            <a:ext cx="25603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Consultar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1352" y="4215384"/>
            <a:ext cx="309067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Historial y retorno a Inicio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907024"/>
            <a:ext cx="10332720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6709A"/>
                </a:solidFill>
                <a:latin typeface="Arial"/>
              </a:rPr>
              <a:t>Los datos personales se consultan con el usuario autenticado.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29968" y="192024"/>
            <a:ext cx="90525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153550"/>
                </a:solidFill>
                <a:latin typeface="Arial"/>
              </a:rPr>
              <a:t>Pantallas y acciones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64808"/>
            <a:ext cx="108813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485865"/>
                </a:solidFill>
                <a:latin typeface="Arial"/>
              </a:rPr>
              <a:t>SeñalSegura · EFT S9                                      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61872"/>
            <a:ext cx="3291840" cy="4526280"/>
          </a:xfrm>
          <a:prstGeom prst="roundRect">
            <a:avLst>
              <a:gd name="adj" fmla="val 10000"/>
            </a:avLst>
          </a:prstGeom>
          <a:solidFill>
            <a:srgbClr val="153550"/>
          </a:solidFill>
          <a:ln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0392" y="1389888"/>
            <a:ext cx="3090672" cy="42428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0392" y="1389888"/>
            <a:ext cx="3090672" cy="521207"/>
          </a:xfrm>
          <a:prstGeom prst="rect">
            <a:avLst/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7" y="1481328"/>
            <a:ext cx="28346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53550"/>
                </a:solidFill>
                <a:latin typeface="Arial"/>
              </a:rPr>
              <a:t>Acceso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7" y="2103120"/>
            <a:ext cx="2743200" cy="621792"/>
          </a:xfrm>
          <a:prstGeom prst="roundRect">
            <a:avLst>
              <a:gd name="adj" fmla="val 10000"/>
            </a:avLst>
          </a:prstGeom>
          <a:solidFill>
            <a:srgbClr val="F0F6F9"/>
          </a:solidFill>
          <a:ln>
            <a:solidFill>
              <a:srgbClr val="F0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12848"/>
            <a:ext cx="25146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53550"/>
                </a:solidFill>
                <a:latin typeface="Arial"/>
              </a:rPr>
              <a:t>Correo y contraseña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7" y="2889503"/>
            <a:ext cx="2743200" cy="621792"/>
          </a:xfrm>
          <a:prstGeom prst="roundRect">
            <a:avLst>
              <a:gd name="adj" fmla="val 10000"/>
            </a:avLst>
          </a:prstGeom>
          <a:solidFill>
            <a:srgbClr val="F0F6F9"/>
          </a:solidFill>
          <a:ln>
            <a:solidFill>
              <a:srgbClr val="F0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999232"/>
            <a:ext cx="25146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53550"/>
                </a:solidFill>
                <a:latin typeface="Arial"/>
              </a:rPr>
              <a:t>Registro / recuperación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7" y="3675887"/>
            <a:ext cx="2743200" cy="621792"/>
          </a:xfrm>
          <a:prstGeom prst="roundRect">
            <a:avLst>
              <a:gd name="adj" fmla="val 10000"/>
            </a:avLst>
          </a:prstGeom>
          <a:solidFill>
            <a:srgbClr val="F0F6F9"/>
          </a:solidFill>
          <a:ln>
            <a:solidFill>
              <a:srgbClr val="F0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785615"/>
            <a:ext cx="25146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53550"/>
                </a:solidFill>
                <a:latin typeface="Arial"/>
              </a:rPr>
              <a:t>Saludo con nombre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261872"/>
            <a:ext cx="3291840" cy="4526280"/>
          </a:xfrm>
          <a:prstGeom prst="roundRect">
            <a:avLst>
              <a:gd name="adj" fmla="val 10000"/>
            </a:avLst>
          </a:prstGeom>
          <a:solidFill>
            <a:srgbClr val="153550"/>
          </a:solidFill>
          <a:ln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81144" y="1389888"/>
            <a:ext cx="3090672" cy="42428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81144" y="1389888"/>
            <a:ext cx="3090672" cy="521207"/>
          </a:xfrm>
          <a:prstGeom prst="rect">
            <a:avLst/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1481328"/>
            <a:ext cx="28346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53550"/>
                </a:solidFill>
                <a:latin typeface="Arial"/>
              </a:rPr>
              <a:t>Inicio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2103120"/>
            <a:ext cx="2743200" cy="621792"/>
          </a:xfrm>
          <a:prstGeom prst="roundRect">
            <a:avLst>
              <a:gd name="adj" fmla="val 10000"/>
            </a:avLst>
          </a:prstGeom>
          <a:solidFill>
            <a:srgbClr val="F0F6F9"/>
          </a:solidFill>
          <a:ln>
            <a:solidFill>
              <a:srgbClr val="F0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3752" y="2212848"/>
            <a:ext cx="25146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53550"/>
                </a:solidFill>
                <a:latin typeface="Arial"/>
              </a:rPr>
              <a:t>Escribir mensaje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2889503"/>
            <a:ext cx="2743200" cy="621792"/>
          </a:xfrm>
          <a:prstGeom prst="roundRect">
            <a:avLst>
              <a:gd name="adj" fmla="val 10000"/>
            </a:avLst>
          </a:prstGeom>
          <a:solidFill>
            <a:srgbClr val="F0F6F9"/>
          </a:solidFill>
          <a:ln>
            <a:solidFill>
              <a:srgbClr val="F0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3752" y="2999232"/>
            <a:ext cx="25146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53550"/>
                </a:solidFill>
                <a:latin typeface="Arial"/>
              </a:rPr>
              <a:t>Mostrar / voz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3675887"/>
            <a:ext cx="2743200" cy="621792"/>
          </a:xfrm>
          <a:prstGeom prst="roundRect">
            <a:avLst>
              <a:gd name="adj" fmla="val 10000"/>
            </a:avLst>
          </a:prstGeom>
          <a:solidFill>
            <a:srgbClr val="F0F6F9"/>
          </a:solidFill>
          <a:ln>
            <a:solidFill>
              <a:srgbClr val="F0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3752" y="3785615"/>
            <a:ext cx="25146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53550"/>
                </a:solidFill>
                <a:latin typeface="Arial"/>
              </a:rPr>
              <a:t>Frases y alertas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11312" y="1261872"/>
            <a:ext cx="3291840" cy="4526280"/>
          </a:xfrm>
          <a:prstGeom prst="roundRect">
            <a:avLst>
              <a:gd name="adj" fmla="val 10000"/>
            </a:avLst>
          </a:prstGeom>
          <a:solidFill>
            <a:srgbClr val="153550"/>
          </a:solidFill>
          <a:ln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11896" y="1389888"/>
            <a:ext cx="3090672" cy="42428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11896" y="1389888"/>
            <a:ext cx="3090672" cy="521207"/>
          </a:xfrm>
          <a:prstGeom prst="rect">
            <a:avLst/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912" y="1481328"/>
            <a:ext cx="28346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53550"/>
                </a:solidFill>
                <a:latin typeface="Arial"/>
              </a:rPr>
              <a:t>Historial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85632" y="2103120"/>
            <a:ext cx="2743200" cy="621792"/>
          </a:xfrm>
          <a:prstGeom prst="roundRect">
            <a:avLst>
              <a:gd name="adj" fmla="val 10000"/>
            </a:avLst>
          </a:prstGeom>
          <a:solidFill>
            <a:srgbClr val="F0F6F9"/>
          </a:solidFill>
          <a:ln>
            <a:solidFill>
              <a:srgbClr val="F0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04504" y="2212848"/>
            <a:ext cx="25146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53550"/>
                </a:solidFill>
                <a:latin typeface="Arial"/>
              </a:rPr>
              <a:t>Interacciones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85632" y="2889503"/>
            <a:ext cx="2743200" cy="621792"/>
          </a:xfrm>
          <a:prstGeom prst="roundRect">
            <a:avLst>
              <a:gd name="adj" fmla="val 10000"/>
            </a:avLst>
          </a:prstGeom>
          <a:solidFill>
            <a:srgbClr val="F0F6F9"/>
          </a:solidFill>
          <a:ln>
            <a:solidFill>
              <a:srgbClr val="F0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04504" y="2999232"/>
            <a:ext cx="25146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53550"/>
                </a:solidFill>
                <a:latin typeface="Arial"/>
              </a:rPr>
              <a:t>Perfil del usuario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85632" y="3675887"/>
            <a:ext cx="2743200" cy="621792"/>
          </a:xfrm>
          <a:prstGeom prst="roundRect">
            <a:avLst>
              <a:gd name="adj" fmla="val 10000"/>
            </a:avLst>
          </a:prstGeom>
          <a:solidFill>
            <a:srgbClr val="F0F6F9"/>
          </a:solidFill>
          <a:ln>
            <a:solidFill>
              <a:srgbClr val="F0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04504" y="3785615"/>
            <a:ext cx="25146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53550"/>
                </a:solidFill>
                <a:latin typeface="Arial"/>
              </a:rPr>
              <a:t>Crear / editar / eliminar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925312"/>
            <a:ext cx="101498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485865"/>
                </a:solidFill>
                <a:latin typeface="Arial"/>
              </a:rPr>
              <a:t>Esquemas de navegación; en el video se muestra la interfaz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29968" y="192024"/>
            <a:ext cx="90525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153550"/>
                </a:solidFill>
                <a:latin typeface="Arial"/>
              </a:rPr>
              <a:t>Accesibilidad y ayuda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64808"/>
            <a:ext cx="108813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485865"/>
                </a:solidFill>
                <a:latin typeface="Arial"/>
              </a:rPr>
              <a:t>SeñalSegura · EFT S9                                      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422392" cy="16824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C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82296" cy="1682496"/>
          </a:xfrm>
          <a:prstGeom prst="rect">
            <a:avLst/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80744"/>
            <a:ext cx="5056631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Texto visible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65376"/>
            <a:ext cx="5038344" cy="9509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Mensaje destacado, letra grande y respuesta visual.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28232" y="1234440"/>
            <a:ext cx="5422392" cy="16824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C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28232" y="1234440"/>
            <a:ext cx="82296" cy="1682496"/>
          </a:xfrm>
          <a:prstGeom prst="rect">
            <a:avLst/>
          </a:prstGeom>
          <a:solidFill>
            <a:srgbClr val="16709A"/>
          </a:solidFill>
          <a:ln>
            <a:solidFill>
              <a:srgbClr val="167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380744"/>
            <a:ext cx="5056631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Alto contraste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865376"/>
            <a:ext cx="5038344" cy="9509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Interruptor de lectura conservado en preferencias.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91256"/>
            <a:ext cx="5422392" cy="16824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C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191256"/>
            <a:ext cx="82296" cy="1682496"/>
          </a:xfrm>
          <a:prstGeom prst="rect">
            <a:avLst/>
          </a:prstGeom>
          <a:solidFill>
            <a:srgbClr val="1C895C"/>
          </a:solidFill>
          <a:ln>
            <a:solidFill>
              <a:srgbClr val="1C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337560"/>
            <a:ext cx="5056631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TalkBack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2191"/>
            <a:ext cx="5038344" cy="9509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Etiquetas y componentes Compose accesibles.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28232" y="3191256"/>
            <a:ext cx="5422392" cy="16824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C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28232" y="3191256"/>
            <a:ext cx="82296" cy="1682496"/>
          </a:xfrm>
          <a:prstGeom prst="rect">
            <a:avLst/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337560"/>
            <a:ext cx="5056631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Voz y vibración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822191"/>
            <a:ext cx="5038344" cy="9509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TextToSpeech en español y señal háptica.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285232"/>
            <a:ext cx="11164824" cy="768096"/>
          </a:xfrm>
          <a:prstGeom prst="roundRect">
            <a:avLst>
              <a:gd name="adj" fmla="val 10000"/>
            </a:avLst>
          </a:prstGeom>
          <a:solidFill>
            <a:srgbClr val="F0F6F9"/>
          </a:solidFill>
          <a:ln>
            <a:solidFill>
              <a:srgbClr val="F0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404104"/>
            <a:ext cx="10661904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53550"/>
                </a:solidFill>
                <a:latin typeface="Arial"/>
              </a:rPr>
              <a:t>Ayuda dentro de Inicio: 5 pasos de uso · grillas adaptativas en pantallas pequeñas y grandes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29968" y="192024"/>
            <a:ext cx="90525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153550"/>
                </a:solidFill>
                <a:latin typeface="Arial"/>
              </a:rPr>
              <a:t>Arquitectura de 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64808"/>
            <a:ext cx="108813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485865"/>
                </a:solidFill>
                <a:latin typeface="Arial"/>
              </a:rPr>
              <a:t>SeñalSegura · EFT S9                                     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72768"/>
            <a:ext cx="2633472" cy="30083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1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2633472" cy="484632"/>
          </a:xfrm>
          <a:prstGeom prst="rect">
            <a:avLst/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36776"/>
            <a:ext cx="23317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Interfaz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67712"/>
            <a:ext cx="2194560" cy="19751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0">
                <a:solidFill>
                  <a:srgbClr val="485865"/>
                </a:solidFill>
                <a:latin typeface="Arial"/>
              </a:rPr>
              <a:t>Jetpack Compose</a:t>
            </a:r>
          </a:p>
          <a:p>
            <a:pPr algn="ctr">
              <a:spcAft>
                <a:spcPts val="300"/>
              </a:spcAft>
            </a:pPr>
            <a:r>
              <a:rPr sz="1700" b="0">
                <a:solidFill>
                  <a:srgbClr val="485865"/>
                </a:solidFill>
                <a:latin typeface="Arial"/>
              </a:rPr>
              <a:t>Material 3</a:t>
            </a:r>
          </a:p>
          <a:p>
            <a:pPr algn="ctr">
              <a:spcAft>
                <a:spcPts val="300"/>
              </a:spcAft>
            </a:pPr>
            <a:r>
              <a:rPr sz="1700" b="0">
                <a:solidFill>
                  <a:srgbClr val="485865"/>
                </a:solidFill>
                <a:latin typeface="Arial"/>
              </a:rPr>
              <a:t>Navegación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834640"/>
            <a:ext cx="34747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6709A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572768"/>
            <a:ext cx="2633472" cy="30083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1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572768"/>
            <a:ext cx="2633472" cy="484632"/>
          </a:xfrm>
          <a:prstGeom prst="rect">
            <a:avLst/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12464" y="1636776"/>
            <a:ext cx="23317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Estado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6" y="2267712"/>
            <a:ext cx="2194560" cy="19751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0">
                <a:solidFill>
                  <a:srgbClr val="485865"/>
                </a:solidFill>
                <a:latin typeface="Arial"/>
              </a:rPr>
              <a:t>ViewModels</a:t>
            </a:r>
          </a:p>
          <a:p>
            <a:pPr algn="ctr">
              <a:spcAft>
                <a:spcPts val="300"/>
              </a:spcAft>
            </a:pPr>
            <a:r>
              <a:rPr sz="1700" b="0">
                <a:solidFill>
                  <a:srgbClr val="485865"/>
                </a:solidFill>
                <a:latin typeface="Arial"/>
              </a:rPr>
              <a:t>Validación</a:t>
            </a:r>
          </a:p>
          <a:p>
            <a:pPr algn="ctr">
              <a:spcAft>
                <a:spcPts val="300"/>
              </a:spcAft>
            </a:pPr>
            <a:r>
              <a:rPr sz="1700" b="0">
                <a:solidFill>
                  <a:srgbClr val="485865"/>
                </a:solidFill>
                <a:latin typeface="Arial"/>
              </a:rPr>
              <a:t>Acciones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2834640"/>
            <a:ext cx="34747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6709A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3952" y="1572768"/>
            <a:ext cx="2633472" cy="30083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1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73952" y="1572768"/>
            <a:ext cx="2633472" cy="484632"/>
          </a:xfrm>
          <a:prstGeom prst="rect">
            <a:avLst/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6" y="1636776"/>
            <a:ext cx="23317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2267712"/>
            <a:ext cx="2194560" cy="19751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0">
                <a:solidFill>
                  <a:srgbClr val="485865"/>
                </a:solidFill>
                <a:latin typeface="Arial"/>
              </a:rPr>
              <a:t>Repositorios</a:t>
            </a:r>
          </a:p>
          <a:p>
            <a:pPr algn="ctr">
              <a:spcAft>
                <a:spcPts val="300"/>
              </a:spcAft>
            </a:pPr>
            <a:r>
              <a:rPr sz="1700" b="0">
                <a:solidFill>
                  <a:srgbClr val="485865"/>
                </a:solidFill>
                <a:latin typeface="Arial"/>
              </a:rPr>
              <a:t>Firebase / local</a:t>
            </a:r>
          </a:p>
          <a:p>
            <a:pPr algn="ctr">
              <a:spcAft>
                <a:spcPts val="300"/>
              </a:spcAft>
            </a:pPr>
            <a:r>
              <a:rPr sz="1700" b="0">
                <a:solidFill>
                  <a:srgbClr val="485865"/>
                </a:solidFill>
                <a:latin typeface="Arial"/>
              </a:rPr>
              <a:t>Modelos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2834640"/>
            <a:ext cx="34747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6709A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81744" y="1572768"/>
            <a:ext cx="2633472" cy="30083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1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81744" y="1572768"/>
            <a:ext cx="2633472" cy="484632"/>
          </a:xfrm>
          <a:prstGeom prst="rect">
            <a:avLst/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28048" y="1636776"/>
            <a:ext cx="23317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Servicios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267712"/>
            <a:ext cx="2194560" cy="19751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0">
                <a:solidFill>
                  <a:srgbClr val="485865"/>
                </a:solidFill>
                <a:latin typeface="Arial"/>
              </a:rPr>
              <a:t>Auth · RTDB</a:t>
            </a:r>
          </a:p>
          <a:p>
            <a:pPr algn="ctr">
              <a:spcAft>
                <a:spcPts val="300"/>
              </a:spcAft>
            </a:pPr>
            <a:r>
              <a:rPr sz="1700" b="0">
                <a:solidFill>
                  <a:srgbClr val="485865"/>
                </a:solidFill>
                <a:latin typeface="Arial"/>
              </a:rPr>
              <a:t>SharedPreferences</a:t>
            </a:r>
          </a:p>
          <a:p>
            <a:pPr algn="ctr">
              <a:spcAft>
                <a:spcPts val="300"/>
              </a:spcAft>
            </a:pPr>
            <a:r>
              <a:rPr sz="1700" b="0">
                <a:solidFill>
                  <a:srgbClr val="485865"/>
                </a:solidFill>
                <a:latin typeface="Arial"/>
              </a:rPr>
              <a:t>TTS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5102352"/>
            <a:ext cx="10863072" cy="7406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153550"/>
                </a:solidFill>
                <a:latin typeface="Arial"/>
              </a:rPr>
              <a:t>La interfaz delega estado y persistencia; las reglas de Firebase limitan el acceso al UID.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29968" y="192024"/>
            <a:ext cx="90525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153550"/>
                </a:solidFill>
                <a:latin typeface="Arial"/>
              </a:rPr>
              <a:t>Autenticación, persistencia y CRUD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64808"/>
            <a:ext cx="108813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485865"/>
                </a:solidFill>
                <a:latin typeface="Arial"/>
              </a:rPr>
              <a:t>SeñalSegura · EFT S9                                      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52728"/>
            <a:ext cx="5358384" cy="16276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C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52728"/>
            <a:ext cx="82296" cy="1627632"/>
          </a:xfrm>
          <a:prstGeom prst="rect">
            <a:avLst/>
          </a:prstGeom>
          <a:solidFill>
            <a:srgbClr val="16709A"/>
          </a:solidFill>
          <a:ln>
            <a:solidFill>
              <a:srgbClr val="167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99032"/>
            <a:ext cx="4992624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Identidad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83664"/>
            <a:ext cx="4974336" cy="8961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Firebase Authentication valida correo y contraseña; el perfil se guarda bajo users/{uid}.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252728"/>
            <a:ext cx="5230368" cy="16276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C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91072" y="1252728"/>
            <a:ext cx="82296" cy="1627632"/>
          </a:xfrm>
          <a:prstGeom prst="rect">
            <a:avLst/>
          </a:prstGeom>
          <a:solidFill>
            <a:srgbClr val="1C895C"/>
          </a:solidFill>
          <a:ln>
            <a:solidFill>
              <a:srgbClr val="1C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99032"/>
            <a:ext cx="486460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Alertas e interacciones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83664"/>
            <a:ext cx="4846320" cy="8961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Realtime Database guarda alerts/{uid}/{id}; Comunicación identifica los mensajes mostrados y la voz solicitada.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72968"/>
            <a:ext cx="5358384" cy="16276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C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172968"/>
            <a:ext cx="82296" cy="1627632"/>
          </a:xfrm>
          <a:prstGeom prst="rect">
            <a:avLst/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319272"/>
            <a:ext cx="4992624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Operaciones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03904"/>
            <a:ext cx="4974336" cy="8961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Crear, consultar en tiempo real, modificar y eliminar alertas y perfiles desde la aplicación.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3172968"/>
            <a:ext cx="5230368" cy="16276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C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91072" y="3172968"/>
            <a:ext cx="82296" cy="1627632"/>
          </a:xfrm>
          <a:prstGeom prst="rect">
            <a:avLst/>
          </a:prstGeom>
          <a:solidFill>
            <a:srgbClr val="16709A"/>
          </a:solidFill>
          <a:ln>
            <a:solidFill>
              <a:srgbClr val="167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319272"/>
            <a:ext cx="486460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Protección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03904"/>
            <a:ext cx="4846320" cy="8961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Las reglas permiten leer y escribir únicamente al UID autenticado; la sesión y preferencias básicas usan SharedPreferences.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358384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0F6F9"/>
          </a:solidFill>
          <a:ln>
            <a:solidFill>
              <a:srgbClr val="F0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404104"/>
            <a:ext cx="2048255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53550"/>
                </a:solidFill>
                <a:latin typeface="Arial"/>
              </a:rPr>
              <a:t>Firebase Auth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01568" y="5358384"/>
            <a:ext cx="2834640" cy="457200"/>
          </a:xfrm>
          <a:prstGeom prst="roundRect">
            <a:avLst>
              <a:gd name="adj" fmla="val 10000"/>
            </a:avLst>
          </a:prstGeom>
          <a:solidFill>
            <a:srgbClr val="F0F6F9"/>
          </a:solidFill>
          <a:ln>
            <a:solidFill>
              <a:srgbClr val="F0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5404104"/>
            <a:ext cx="2688336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53550"/>
                </a:solidFill>
                <a:latin typeface="Arial"/>
              </a:rPr>
              <a:t>Realtime Database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47104" y="5358384"/>
            <a:ext cx="2560320" cy="457200"/>
          </a:xfrm>
          <a:prstGeom prst="roundRect">
            <a:avLst>
              <a:gd name="adj" fmla="val 10000"/>
            </a:avLst>
          </a:prstGeom>
          <a:solidFill>
            <a:srgbClr val="F0F6F9"/>
          </a:solidFill>
          <a:ln>
            <a:solidFill>
              <a:srgbClr val="F0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0256" y="5404104"/>
            <a:ext cx="2414015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53550"/>
                </a:solidFill>
                <a:latin typeface="Arial"/>
              </a:rPr>
              <a:t>Reglas por usuario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36608" y="5358384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0F6F9"/>
          </a:solidFill>
          <a:ln>
            <a:solidFill>
              <a:srgbClr val="F0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5404104"/>
            <a:ext cx="1682496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53550"/>
                </a:solidFill>
                <a:latin typeface="Arial"/>
              </a:rPr>
              <a:t>CRUD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29968" y="192024"/>
            <a:ext cx="90525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153550"/>
                </a:solidFill>
                <a:latin typeface="Arial"/>
              </a:rPr>
              <a:t>Kotlin aplicado en la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64808"/>
            <a:ext cx="108813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485865"/>
                </a:solidFill>
                <a:latin typeface="Arial"/>
              </a:rPr>
              <a:t>SeñalSegura · EFT S9                                     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07008"/>
            <a:ext cx="5349240" cy="17190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C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07008"/>
            <a:ext cx="82296" cy="1719072"/>
          </a:xfrm>
          <a:prstGeom prst="rect">
            <a:avLst/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53312"/>
            <a:ext cx="4983479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POO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37943"/>
            <a:ext cx="4965192" cy="98755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Modelos, propiedades, constructores, interfaces y repositorios separan las responsabilidades.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207008"/>
            <a:ext cx="5230368" cy="17190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C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91072" y="1207008"/>
            <a:ext cx="82296" cy="1719072"/>
          </a:xfrm>
          <a:prstGeom prst="rect">
            <a:avLst/>
          </a:prstGeom>
          <a:solidFill>
            <a:srgbClr val="16709A"/>
          </a:solidFill>
          <a:ln>
            <a:solidFill>
              <a:srgbClr val="167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53312"/>
            <a:ext cx="486460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Colecciones y lambdas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37943"/>
            <a:ext cx="4846320" cy="98755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Filtros y mapNotNull procesan frases, alertas y registros Firebase.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91256"/>
            <a:ext cx="5349240" cy="17190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C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191256"/>
            <a:ext cx="82296" cy="1719072"/>
          </a:xfrm>
          <a:prstGeom prst="rect">
            <a:avLst/>
          </a:prstGeom>
          <a:solidFill>
            <a:srgbClr val="1C895C"/>
          </a:solidFill>
          <a:ln>
            <a:solidFill>
              <a:srgbClr val="1C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337560"/>
            <a:ext cx="4983479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Extensiones y funciones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2191"/>
            <a:ext cx="4965192" cy="98755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String.toAccessibleMessage(), String.wordCount, AndroidX KTX y acciones de orden superior.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3191256"/>
            <a:ext cx="5230368" cy="17190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C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91072" y="3191256"/>
            <a:ext cx="82296" cy="1719072"/>
          </a:xfrm>
          <a:prstGeom prst="rect">
            <a:avLst/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337560"/>
            <a:ext cx="486460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Errores específicos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22191"/>
            <a:ext cx="4846320" cy="98755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La validación utiliza try/catch/finally; los fallos Firebase se devuelven como Result.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5367528"/>
            <a:ext cx="1069848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53550"/>
                </a:solidFill>
                <a:latin typeface="Arial"/>
              </a:rPr>
              <a:t>Ejemplo en vivo: mensaje inválido → feedback visible; mensaje válido → salida y registro.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29968" y="192024"/>
            <a:ext cx="90525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153550"/>
                </a:solidFill>
                <a:latin typeface="Arial"/>
              </a:rPr>
              <a:t>Pruebas y evidencias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64808"/>
            <a:ext cx="108813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485865"/>
                </a:solidFill>
                <a:latin typeface="Arial"/>
              </a:rPr>
              <a:t>SeñalSegura · EFT S9                                      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389888"/>
            <a:ext cx="2834640" cy="1947672"/>
          </a:xfrm>
          <a:prstGeom prst="roundRect">
            <a:avLst>
              <a:gd name="adj" fmla="val 10000"/>
            </a:avLst>
          </a:prstGeom>
          <a:solidFill>
            <a:srgbClr val="153550"/>
          </a:solidFill>
          <a:ln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2"/>
            <a:ext cx="24231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43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468880"/>
            <a:ext cx="2423160" cy="3749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JUnit aprobadas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58768" y="1261872"/>
            <a:ext cx="7434072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C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58768" y="1261872"/>
            <a:ext cx="82296" cy="1298448"/>
          </a:xfrm>
          <a:prstGeom prst="rect">
            <a:avLst/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59935" y="1408175"/>
            <a:ext cx="706831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Validaciones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9935" y="1892807"/>
            <a:ext cx="7050024" cy="56692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Registro, correo, contraseña, mensaje vacío y límite de 180 caracteres.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8768" y="2743200"/>
            <a:ext cx="7434072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C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58768" y="2743200"/>
            <a:ext cx="82296" cy="1298448"/>
          </a:xfrm>
          <a:prstGeom prst="rect">
            <a:avLst/>
          </a:prstGeom>
          <a:solidFill>
            <a:srgbClr val="16709A"/>
          </a:solidFill>
          <a:ln>
            <a:solidFill>
              <a:srgbClr val="167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59935" y="2889504"/>
            <a:ext cx="706831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Lógica y modelos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935" y="3374136"/>
            <a:ext cx="7050024" cy="56692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Análisis, colecciones, repositorios, ViewModels y registros de comunicación.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" y="4389120"/>
            <a:ext cx="10515600" cy="1490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C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" y="4389120"/>
            <a:ext cx="82296" cy="1490472"/>
          </a:xfrm>
          <a:prstGeom prst="rect">
            <a:avLst/>
          </a:prstGeom>
          <a:solidFill>
            <a:srgbClr val="1C895C"/>
          </a:solidFill>
          <a:ln>
            <a:solidFill>
              <a:srgbClr val="1C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535424"/>
            <a:ext cx="1014984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Alcance de la evidencia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5020056"/>
            <a:ext cx="10131552" cy="75895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Pruebas JVM y compilación release. La demostración de UI e instalación se graba en un dispositivo.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29968" y="192024"/>
            <a:ext cx="90525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153550"/>
                </a:solidFill>
                <a:latin typeface="Arial"/>
              </a:rPr>
              <a:t>APK y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64808"/>
            <a:ext cx="108813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485865"/>
                </a:solidFill>
                <a:latin typeface="Arial"/>
              </a:rPr>
              <a:t>SeñalSegura · EFT S9                                     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413248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C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82296" cy="1874519"/>
          </a:xfrm>
          <a:prstGeom prst="rect">
            <a:avLst/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380744"/>
            <a:ext cx="504748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Versión y firma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865376"/>
            <a:ext cx="5029200" cy="1142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SeñalSegura 1.1.0 · versionCode 9 · Android mínimo API 24. APK release firmado y verificado.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34440"/>
            <a:ext cx="512064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C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234440"/>
            <a:ext cx="82296" cy="1874519"/>
          </a:xfrm>
          <a:prstGeom prst="rect">
            <a:avLst/>
          </a:prstGeom>
          <a:solidFill>
            <a:srgbClr val="16709A"/>
          </a:solidFill>
          <a:ln>
            <a:solidFill>
              <a:srgbClr val="167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380744"/>
            <a:ext cx="4754879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Publicación y acceso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1865376"/>
            <a:ext cx="4736592" cy="1142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APK firmado incluido en distribucion/. Se explica el proceso para publicarlo en Google Play; no se afirma que ya esté publicado.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10744200" cy="17190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C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474720"/>
            <a:ext cx="82296" cy="1719072"/>
          </a:xfrm>
          <a:prstGeom prst="rect">
            <a:avLst/>
          </a:prstGeom>
          <a:solidFill>
            <a:srgbClr val="1C895C"/>
          </a:solidFill>
          <a:ln>
            <a:solidFill>
              <a:srgbClr val="1C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621024"/>
            <a:ext cx="1037844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53550"/>
                </a:solidFill>
                <a:latin typeface="Arial"/>
              </a:rPr>
              <a:t>Instalación en la grabación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105656"/>
            <a:ext cx="10360152" cy="98755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485865"/>
                </a:solidFill>
                <a:latin typeface="Arial"/>
              </a:rPr>
              <a:t>Descargar APK → instalar → conceder instalación desde la fuente elegida si Android lo solicita → abrir y probar el flujo.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559552"/>
            <a:ext cx="103784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B0433F"/>
                </a:solidFill>
                <a:latin typeface="Arial"/>
              </a:rPr>
              <a:t>Evidencia de firma: distribucion/evidencia_firma/. Publicación externa pendiente.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29968" y="192024"/>
            <a:ext cx="90525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153550"/>
                </a:solidFill>
                <a:latin typeface="Arial"/>
              </a:rPr>
              <a:t>Demostración y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64808"/>
            <a:ext cx="108813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485865"/>
                </a:solidFill>
                <a:latin typeface="Arial"/>
              </a:rPr>
              <a:t>SeñalSegura · EFT S9                                     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16152"/>
            <a:ext cx="105613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F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298448"/>
            <a:ext cx="2057400" cy="457200"/>
          </a:xfrm>
          <a:prstGeom prst="roundRect">
            <a:avLst>
              <a:gd name="adj" fmla="val 10000"/>
            </a:avLst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1344168"/>
            <a:ext cx="1911095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53550"/>
                </a:solidFill>
                <a:latin typeface="Arial"/>
              </a:rPr>
              <a:t>00:00–01:00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18688" y="1307592"/>
            <a:ext cx="77724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53550"/>
                </a:solidFill>
                <a:latin typeface="Arial"/>
              </a:rPr>
              <a:t>Contexto y objetivo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105613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F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093976"/>
            <a:ext cx="2057400" cy="457200"/>
          </a:xfrm>
          <a:prstGeom prst="roundRect">
            <a:avLst>
              <a:gd name="adj" fmla="val 10000"/>
            </a:avLst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39696"/>
            <a:ext cx="1911095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53550"/>
                </a:solidFill>
                <a:latin typeface="Arial"/>
              </a:rPr>
              <a:t>01:00–03:00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2103120"/>
            <a:ext cx="77724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53550"/>
                </a:solidFill>
                <a:latin typeface="Arial"/>
              </a:rPr>
              <a:t>Descarga, instalación y acceso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807208"/>
            <a:ext cx="105613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F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2889504"/>
            <a:ext cx="2057400" cy="457200"/>
          </a:xfrm>
          <a:prstGeom prst="roundRect">
            <a:avLst>
              <a:gd name="adj" fmla="val 10000"/>
            </a:avLst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2935224"/>
            <a:ext cx="1911095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53550"/>
                </a:solidFill>
                <a:latin typeface="Arial"/>
              </a:rPr>
              <a:t>03:00–07:00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2898648"/>
            <a:ext cx="77724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53550"/>
                </a:solidFill>
                <a:latin typeface="Arial"/>
              </a:rPr>
              <a:t>Escribir, mostrar, voz, frases y ayuda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602736"/>
            <a:ext cx="105613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F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3685032"/>
            <a:ext cx="2057400" cy="457200"/>
          </a:xfrm>
          <a:prstGeom prst="roundRect">
            <a:avLst>
              <a:gd name="adj" fmla="val 10000"/>
            </a:avLst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730752"/>
            <a:ext cx="1911095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53550"/>
                </a:solidFill>
                <a:latin typeface="Arial"/>
              </a:rPr>
              <a:t>07:00–10:00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8688" y="3694176"/>
            <a:ext cx="77724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53550"/>
                </a:solidFill>
                <a:latin typeface="Arial"/>
              </a:rPr>
              <a:t>Historial, perfil y CRUD Firebase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398264"/>
            <a:ext cx="105613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F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0120" y="4480560"/>
            <a:ext cx="2057400" cy="457200"/>
          </a:xfrm>
          <a:prstGeom prst="roundRect">
            <a:avLst>
              <a:gd name="adj" fmla="val 10000"/>
            </a:avLst>
          </a:prstGeom>
          <a:solidFill>
            <a:srgbClr val="F8AB20"/>
          </a:solidFill>
          <a:ln>
            <a:solidFill>
              <a:srgbClr val="F8A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" y="4526280"/>
            <a:ext cx="1911095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53550"/>
                </a:solidFill>
                <a:latin typeface="Arial"/>
              </a:rPr>
              <a:t>10:00–12:00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8688" y="4489704"/>
            <a:ext cx="77724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53550"/>
                </a:solidFill>
                <a:latin typeface="Arial"/>
              </a:rPr>
              <a:t>Pruebas, APK, límites y aprendizaje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394960"/>
            <a:ext cx="10561320" cy="704088"/>
          </a:xfrm>
          <a:prstGeom prst="roundRect">
            <a:avLst>
              <a:gd name="adj" fmla="val 10000"/>
            </a:avLst>
          </a:prstGeom>
          <a:solidFill>
            <a:srgbClr val="F0F6F9"/>
          </a:solidFill>
          <a:ln>
            <a:solidFill>
              <a:srgbClr val="F0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513832"/>
            <a:ext cx="101955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53550"/>
                </a:solidFill>
                <a:latin typeface="Arial"/>
              </a:rPr>
              <a:t>Reflexión: la accesibilidad exige validar el uso real en distintos dispositivos y mejorar con feedback.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37560" y="749808"/>
            <a:ext cx="557784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3100" b="1">
                <a:solidFill>
                  <a:srgbClr val="153550"/>
                </a:solidFill>
                <a:latin typeface="Arial"/>
              </a:rPr>
              <a:t>SeñalSegura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3400" y="5266944"/>
            <a:ext cx="34747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>
                <a:solidFill>
                  <a:srgbClr val="153550"/>
                </a:solidFill>
                <a:latin typeface="Arial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22211053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0BFDEA41A5D8B46AA5DA2E2389CBE4E" ma:contentTypeVersion="19" ma:contentTypeDescription="Crear nuevo documento." ma:contentTypeScope="" ma:versionID="8582924e0409c10a8a1fc1eca5dfbb2e">
  <xsd:schema xmlns:xsd="http://www.w3.org/2001/XMLSchema" xmlns:xs="http://www.w3.org/2001/XMLSchema" xmlns:p="http://schemas.microsoft.com/office/2006/metadata/properties" xmlns:ns2="d0daa353-f819-43d1-badf-ce69fea8800d" xmlns:ns3="edc1eb1c-f9b5-429a-a0ce-702847a0aa2d" targetNamespace="http://schemas.microsoft.com/office/2006/metadata/properties" ma:root="true" ma:fieldsID="e4d7d6d0f63e48ebe5e4a9f31787ab41" ns2:_="" ns3:_="">
    <xsd:import namespace="d0daa353-f819-43d1-badf-ce69fea8800d"/>
    <xsd:import namespace="edc1eb1c-f9b5-429a-a0ce-702847a0aa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Fechayhora" minOccurs="0"/>
                <xsd:element ref="ns2:Fecha_x0020_de_x0020_creaci_x00f3_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daa353-f819-43d1-badf-ce69fea880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Fechayhora" ma:index="20" nillable="true" ma:displayName="Fecha y hora" ma:format="DateTime" ma:internalName="Fechayhora">
      <xsd:simpleType>
        <xsd:restriction base="dms:DateTime"/>
      </xsd:simpleType>
    </xsd:element>
    <xsd:element name="Fecha_x0020_de_x0020_creaci_x00f3_n" ma:index="21" nillable="true" ma:displayName="Fecha de creación" ma:format="DateTime" ma:internalName="Fecha_x0020_de_x0020_creaci_x00f3_n">
      <xsd:simpleType>
        <xsd:restriction base="dms:DateTime"/>
      </xsd:simpleType>
    </xsd:element>
    <xsd:element name="lcf76f155ced4ddcb4097134ff3c332f" ma:index="23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c1eb1c-f9b5-429a-a0ce-702847a0aa2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9beb23f2-04a0-4483-9f40-448d491ccbe9}" ma:internalName="TaxCatchAll" ma:showField="CatchAllData" ma:web="edc1eb1c-f9b5-429a-a0ce-702847a0aa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0daa353-f819-43d1-badf-ce69fea8800d">
      <Terms xmlns="http://schemas.microsoft.com/office/infopath/2007/PartnerControls"/>
    </lcf76f155ced4ddcb4097134ff3c332f>
    <Fecha_x0020_de_x0020_creaci_x00f3_n xmlns="d0daa353-f819-43d1-badf-ce69fea8800d" xsi:nil="true"/>
    <TaxCatchAll xmlns="edc1eb1c-f9b5-429a-a0ce-702847a0aa2d" xsi:nil="true"/>
    <Fechayhora xmlns="d0daa353-f819-43d1-badf-ce69fea8800d" xsi:nil="true"/>
  </documentManagement>
</p:properties>
</file>

<file path=customXml/itemProps1.xml><?xml version="1.0" encoding="utf-8"?>
<ds:datastoreItem xmlns:ds="http://schemas.openxmlformats.org/officeDocument/2006/customXml" ds:itemID="{D039C1AD-F522-40CC-8274-8A425BE0F3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6C02A10-B651-4A19-82DC-BD0E6F0F33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daa353-f819-43d1-badf-ce69fea8800d"/>
    <ds:schemaRef ds:uri="edc1eb1c-f9b5-429a-a0ce-702847a0aa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CFA87EA-B44E-4EFC-9EBC-388E2126912C}">
  <ds:schemaRefs>
    <ds:schemaRef ds:uri="http://purl.org/dc/dcmitype/"/>
    <ds:schemaRef ds:uri="d0daa353-f819-43d1-badf-ce69fea8800d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edc1eb1c-f9b5-429a-a0ce-702847a0aa2d"/>
    <ds:schemaRef ds:uri="http://purl.org/dc/elements/1.1/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909</TotalTime>
  <Words>647</Words>
  <Application>Microsoft Office PowerPoint</Application>
  <PresentationFormat>Panorámica</PresentationFormat>
  <Paragraphs>49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Rodrigo Muñoz M.</dc:creator>
  <cp:lastModifiedBy>Shayhaska Castro C.</cp:lastModifiedBy>
  <cp:revision>33</cp:revision>
  <dcterms:created xsi:type="dcterms:W3CDTF">2024-02-19T13:00:38Z</dcterms:created>
  <dcterms:modified xsi:type="dcterms:W3CDTF">2024-04-16T13:24:24Z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0x01010070BFDEA41A5D8B46AA5DA2E2389CBE4E</vt:lpwstr>
  </property>
  <property fmtid="{D5CDD505-2E9C-101B-9397-08002B2CF9AE}" pid="3" name="MediaServiceImageTags">
    <vt:lpwstr/>
  </property>
</Properties>
</file>